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</p:sldMasterIdLst>
  <p:notesMasterIdLst>
    <p:notesMasterId r:id="rId17"/>
  </p:notesMasterIdLst>
  <p:sldIdLst>
    <p:sldId id="275" r:id="rId2"/>
    <p:sldId id="276" r:id="rId3"/>
    <p:sldId id="277" r:id="rId4"/>
    <p:sldId id="294" r:id="rId5"/>
    <p:sldId id="305" r:id="rId6"/>
    <p:sldId id="272" r:id="rId7"/>
    <p:sldId id="282" r:id="rId8"/>
    <p:sldId id="307" r:id="rId9"/>
    <p:sldId id="308" r:id="rId10"/>
    <p:sldId id="306" r:id="rId11"/>
    <p:sldId id="309" r:id="rId12"/>
    <p:sldId id="260" r:id="rId13"/>
    <p:sldId id="310" r:id="rId14"/>
    <p:sldId id="284" r:id="rId15"/>
    <p:sldId id="274" r:id="rId16"/>
  </p:sldIdLst>
  <p:sldSz cx="9144000" cy="6858000" type="screen4x3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72C"/>
    <a:srgbClr val="69B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B41E7E-977E-4242-9298-5856743A5FC7}" v="2" dt="2026-01-16T19:49:48.631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132"/>
    <p:restoredTop sz="94721"/>
  </p:normalViewPr>
  <p:slideViewPr>
    <p:cSldViewPr snapToGrid="0" snapToObjects="1">
      <p:cViewPr varScale="1">
        <p:scale>
          <a:sx n="107" d="100"/>
          <a:sy n="107" d="100"/>
        </p:scale>
        <p:origin x="8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a Nacif El Alaoui" userId="69746eab-fe43-459f-a36f-cd87144df17e" providerId="ADAL" clId="{FD23A653-43BC-42C3-AD44-0AA15F2914BA}"/>
    <pc:docChg chg="modSld">
      <pc:chgData name="Reda Nacif El Alaoui" userId="69746eab-fe43-459f-a36f-cd87144df17e" providerId="ADAL" clId="{FD23A653-43BC-42C3-AD44-0AA15F2914BA}" dt="2026-01-16T19:50:03.822" v="24" actId="20577"/>
      <pc:docMkLst>
        <pc:docMk/>
      </pc:docMkLst>
      <pc:sldChg chg="modSp mod">
        <pc:chgData name="Reda Nacif El Alaoui" userId="69746eab-fe43-459f-a36f-cd87144df17e" providerId="ADAL" clId="{FD23A653-43BC-42C3-AD44-0AA15F2914BA}" dt="2026-01-16T19:50:03.822" v="24" actId="20577"/>
        <pc:sldMkLst>
          <pc:docMk/>
          <pc:sldMk cId="3237590156" sldId="258"/>
        </pc:sldMkLst>
        <pc:spChg chg="mod">
          <ac:chgData name="Reda Nacif El Alaoui" userId="69746eab-fe43-459f-a36f-cd87144df17e" providerId="ADAL" clId="{FD23A653-43BC-42C3-AD44-0AA15F2914BA}" dt="2026-01-16T19:50:03.822" v="24" actId="20577"/>
          <ac:spMkLst>
            <pc:docMk/>
            <pc:sldMk cId="3237590156" sldId="258"/>
            <ac:spMk id="9" creationId="{A2163CFA-8E03-DC47-AB89-020E49AEA15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782C7-A981-DA49-9F80-7A4E7540518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12654-83C3-6247-B37B-7386861A2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43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C60DCD-A1EE-D04E-A050-0D41A7407592}"/>
              </a:ext>
            </a:extLst>
          </p:cNvPr>
          <p:cNvSpPr/>
          <p:nvPr userDrawn="1"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8DFAC-6C93-D941-AD4C-56B7F38F7E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6236468" y="-171450"/>
            <a:ext cx="3076696" cy="30766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56F2F19-5F1F-9540-9B80-03841B943248}"/>
              </a:ext>
            </a:extLst>
          </p:cNvPr>
          <p:cNvSpPr/>
          <p:nvPr userDrawn="1"/>
        </p:nvSpPr>
        <p:spPr>
          <a:xfrm>
            <a:off x="0" y="2651760"/>
            <a:ext cx="9144000" cy="9144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006448-8A20-764C-A113-1826193078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2150" y="6176068"/>
            <a:ext cx="2743200" cy="24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25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33169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693670"/>
            <a:ext cx="3886200" cy="34767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693670"/>
            <a:ext cx="3886200" cy="34767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F4AE9C-67F5-1A41-89B0-DEEE29CEB63B}"/>
              </a:ext>
            </a:extLst>
          </p:cNvPr>
          <p:cNvSpPr/>
          <p:nvPr userDrawn="1"/>
        </p:nvSpPr>
        <p:spPr>
          <a:xfrm>
            <a:off x="0" y="-1"/>
            <a:ext cx="9144000" cy="914401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E368CC-3F6A-894C-9234-DC83E799A195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72DBF6-0DAC-E148-9CD9-C668F894CB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57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233169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233170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992293"/>
            <a:ext cx="2949178" cy="3114503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43BBDD-4F51-5942-AA98-E7E60DD246B8}"/>
              </a:ext>
            </a:extLst>
          </p:cNvPr>
          <p:cNvSpPr/>
          <p:nvPr userDrawn="1"/>
        </p:nvSpPr>
        <p:spPr>
          <a:xfrm>
            <a:off x="0" y="-1"/>
            <a:ext cx="9144000" cy="914401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12223B-7DCB-0A48-A51E-8DF64C6AB09A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FA19B8AF-179C-6A40-9FCF-C1F83ADFC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087DC1-D29E-C342-8A11-CCD0B4FE6B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5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D56338-8C42-5A4C-B15A-5E6D618BF4F2}"/>
              </a:ext>
            </a:extLst>
          </p:cNvPr>
          <p:cNvSpPr/>
          <p:nvPr userDrawn="1"/>
        </p:nvSpPr>
        <p:spPr>
          <a:xfrm>
            <a:off x="0" y="-1"/>
            <a:ext cx="9144000" cy="914401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4F877C-2745-294D-A776-CA518D80DE0A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0B38AD8-F3C5-7940-BF85-B96BF38E0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FA62369-8A22-664A-A57A-10CC43BAE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33169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FA4AFD9-2B8B-FE40-A4BC-0A4258AA8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693670"/>
            <a:ext cx="7886700" cy="3476724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CD807D-CF7D-A84C-AABB-8EB38292CA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24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95645F-D1FD-AB49-94B6-E1A0A46E6E38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FC020F-74CE-744F-B417-D101F5F860F7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79FC38-93A5-254A-9580-ADF945DCA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A57B61-6E93-3E4B-B366-DD651B8AFF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-685800" y="-685800"/>
            <a:ext cx="6175094" cy="617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25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5A77A-971A-3244-890F-3B99F7747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2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7" r:id="rId3"/>
    <p:sldLayoutId id="2147483660" r:id="rId4"/>
    <p:sldLayoutId id="2147483665" r:id="rId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hyperlink" Target="https://www.embs.org/wp-content/uploads/2019/03/feng1-2893406-hires.gif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ars.els-cdn.com/content/image/1-s2.0-S0020025519307820-gr1.jpg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6E06235-B4A9-1445-B4B0-799FEB40F49A}"/>
              </a:ext>
            </a:extLst>
          </p:cNvPr>
          <p:cNvSpPr txBox="1">
            <a:spLocks noChangeArrowheads="1"/>
          </p:cNvSpPr>
          <p:nvPr/>
        </p:nvSpPr>
        <p:spPr>
          <a:xfrm>
            <a:off x="296820" y="1316934"/>
            <a:ext cx="8847180" cy="928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  <a:latin typeface="+mn-lt"/>
                <a:cs typeface="Times" panose="02020603050405020304" pitchFamily="18" charset="0"/>
              </a:rPr>
              <a:t>ROBUST NEURAL DECODING UNDER MISSING CHANNELS</a:t>
            </a:r>
            <a:endParaRPr lang="en-US" altLang="en-US" sz="3200" b="1" dirty="0">
              <a:solidFill>
                <a:schemeClr val="bg1"/>
              </a:solidFill>
              <a:latin typeface="+mn-lt"/>
              <a:cs typeface="Times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614B48C-432E-4046-9F84-C6EB95379FC1}"/>
              </a:ext>
            </a:extLst>
          </p:cNvPr>
          <p:cNvSpPr txBox="1">
            <a:spLocks noChangeArrowheads="1"/>
          </p:cNvSpPr>
          <p:nvPr/>
        </p:nvSpPr>
        <p:spPr>
          <a:xfrm>
            <a:off x="-829513" y="4058365"/>
            <a:ext cx="148379" cy="149740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63CFA-8E03-DC47-AB89-020E49AEA157}"/>
              </a:ext>
            </a:extLst>
          </p:cNvPr>
          <p:cNvSpPr txBox="1"/>
          <p:nvPr/>
        </p:nvSpPr>
        <p:spPr>
          <a:xfrm>
            <a:off x="345448" y="3027724"/>
            <a:ext cx="3681162" cy="32316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 dirty="0">
                <a:latin typeface="Times New Roman"/>
                <a:cs typeface="Times New Roman"/>
              </a:rPr>
              <a:t>Presented By:</a:t>
            </a:r>
          </a:p>
          <a:p>
            <a:endParaRPr lang="en-US" sz="1800" b="1" dirty="0">
              <a:latin typeface="Times New Roman"/>
              <a:cs typeface="Arial"/>
            </a:endParaRPr>
          </a:p>
          <a:p>
            <a:endParaRPr lang="en-US" sz="1800" b="1" dirty="0">
              <a:latin typeface="Times New Roman"/>
              <a:cs typeface="Arial"/>
            </a:endParaRPr>
          </a:p>
          <a:p>
            <a:r>
              <a:rPr lang="en-US" sz="1800" dirty="0">
                <a:latin typeface="Times New Roman"/>
                <a:ea typeface="Calibri" panose="020F0502020204030204"/>
                <a:cs typeface="Calibri" panose="020F0502020204030204"/>
              </a:rPr>
              <a:t>Kartavya Mandora</a:t>
            </a:r>
          </a:p>
          <a:p>
            <a:endParaRPr lang="en-US" sz="1800" dirty="0">
              <a:latin typeface="Times New Roman"/>
              <a:cs typeface="Arial"/>
            </a:endParaRPr>
          </a:p>
          <a:p>
            <a:endParaRPr lang="en-US" sz="1800" dirty="0">
              <a:latin typeface="Times New Roman"/>
              <a:cs typeface="Arial"/>
            </a:endParaRPr>
          </a:p>
          <a:p>
            <a:endParaRPr lang="en-US" sz="2000" dirty="0">
              <a:latin typeface="Times New Roman"/>
              <a:cs typeface="Times New Roman"/>
            </a:endParaRPr>
          </a:p>
          <a:p>
            <a:endParaRPr lang="en-US" sz="2000" dirty="0">
              <a:latin typeface="Times New Roman"/>
              <a:cs typeface="Times New Roman"/>
            </a:endParaRPr>
          </a:p>
          <a:p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Date: 05/06/2026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9A0597-3ED6-D62F-272D-DB5E7F8E498C}"/>
              </a:ext>
            </a:extLst>
          </p:cNvPr>
          <p:cNvSpPr txBox="1"/>
          <p:nvPr/>
        </p:nvSpPr>
        <p:spPr>
          <a:xfrm>
            <a:off x="345448" y="6164712"/>
            <a:ext cx="25649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000" dirty="0">
                <a:latin typeface="Times New Roman"/>
                <a:cs typeface="Times New Roman"/>
              </a:rPr>
              <a:t>AI689_SPRING2026</a:t>
            </a:r>
            <a:endParaRPr lang="en-US" sz="2000" dirty="0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A7DE29-E629-8AAE-C4E9-FEC1B572688D}"/>
              </a:ext>
            </a:extLst>
          </p:cNvPr>
          <p:cNvSpPr txBox="1"/>
          <p:nvPr/>
        </p:nvSpPr>
        <p:spPr>
          <a:xfrm>
            <a:off x="3596147" y="5911963"/>
            <a:ext cx="677688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>
                <a:hlinkClick r:id="rId2"/>
              </a:rPr>
              <a:t>https://www.embs.org/wp-content/uploads/2019/03/feng1-2893406-hires.gif</a:t>
            </a:r>
            <a:endParaRPr lang="en-IN" sz="1050" dirty="0"/>
          </a:p>
        </p:txBody>
      </p:sp>
      <p:pic>
        <p:nvPicPr>
          <p:cNvPr id="1026" name="Picture 2" descr="Neural Decoding for Macaque's Finger Position: Convolutional Space Model -  Transactions on Neural Systems and Rehabilitation Engineering (TNSRE)">
            <a:extLst>
              <a:ext uri="{FF2B5EF4-FFF2-40B4-BE49-F238E27FC236}">
                <a16:creationId xmlns:a16="http://schemas.microsoft.com/office/drawing/2014/main" id="{203FE4D0-69DB-8F91-5576-8B8CCF287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147" y="3130842"/>
            <a:ext cx="4439145" cy="2475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6406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BCF1-984E-8948-950A-5CD959835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03094"/>
            <a:ext cx="7886700" cy="4767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sz="3200" dirty="0">
                <a:latin typeface="Times"/>
                <a:cs typeface="Times New Roman"/>
              </a:rPr>
              <a:t>Problem Overview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"/>
                <a:cs typeface="Times New Roman"/>
              </a:rPr>
              <a:t>Dataset Overview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"/>
                <a:cs typeface="Times New Roman"/>
              </a:rPr>
              <a:t>Problem Formulation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"/>
                <a:cs typeface="Times New Roman"/>
              </a:rPr>
              <a:t>Methodology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"/>
                <a:cs typeface="Times New Roman"/>
              </a:rPr>
              <a:t>Key Experiments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"/>
                <a:cs typeface="Times New Roman"/>
              </a:rPr>
              <a:t>Results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"/>
                <a:cs typeface="Times New Roman"/>
              </a:rPr>
              <a:t>Key Insights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200" dirty="0">
                <a:latin typeface="Times"/>
                <a:ea typeface="+mn-lt"/>
                <a:cs typeface="+mn-lt"/>
              </a:rPr>
              <a:t>Conclusion &amp; Future work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684B8B-43FC-324A-B112-F515B802157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Times New Roman"/>
                <a:cs typeface="Arial"/>
              </a:rPr>
              <a:t>OUTLINES </a:t>
            </a:r>
            <a:endParaRPr lang="en-US" dirty="0">
              <a:solidFill>
                <a:schemeClr val="bg1"/>
              </a:solidFill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C8CBDB-C241-4C9B-9B12-C17CD5A4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6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69684B8B-43FC-324A-B112-F515B802157A}"/>
              </a:ext>
            </a:extLst>
          </p:cNvPr>
          <p:cNvSpPr txBox="1">
            <a:spLocks noChangeArrowheads="1"/>
          </p:cNvSpPr>
          <p:nvPr/>
        </p:nvSpPr>
        <p:spPr>
          <a:xfrm>
            <a:off x="629840" y="103842"/>
            <a:ext cx="3411217" cy="5826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77">
              <a:spcAft>
                <a:spcPts val="600"/>
              </a:spcAft>
            </a:pPr>
            <a:r>
              <a:rPr lang="en-US" sz="2800" dirty="0">
                <a:solidFill>
                  <a:schemeClr val="bg1"/>
                </a:solidFill>
                <a:latin typeface="+mn-lt"/>
              </a:rPr>
              <a:t>PROBLEM OVERVIEW</a:t>
            </a:r>
            <a:endParaRPr lang="en-US" altLang="en-US" sz="2800" b="1" kern="12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608BD0-994E-4EA0-A0B0-4FC8DE30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825A77A-971A-3244-890F-3B99F774724A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DAE93-1FA1-0F19-6734-FDBCA4B9897A}"/>
              </a:ext>
            </a:extLst>
          </p:cNvPr>
          <p:cNvSpPr txBox="1"/>
          <p:nvPr/>
        </p:nvSpPr>
        <p:spPr>
          <a:xfrm>
            <a:off x="3907451" y="4789463"/>
            <a:ext cx="44052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>
                <a:hlinkClick r:id="rId2"/>
              </a:rPr>
              <a:t>https://ars.els-cdn.com/content/image/1-s2.0-S0020025519307820-gr1.jpg</a:t>
            </a:r>
            <a:endParaRPr lang="en-IN" sz="105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5622F4A-E486-A5FB-523E-5823EC01A9C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90550" y="2225259"/>
            <a:ext cx="468589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Neural decoding = brain → movement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Applications: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rosthetics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ssistive tech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oisy signals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issing channels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3" name="Picture 5" descr="Fine-grained neural decoding with distributed word representations -  ScienceDirect">
            <a:extLst>
              <a:ext uri="{FF2B5EF4-FFF2-40B4-BE49-F238E27FC236}">
                <a16:creationId xmlns:a16="http://schemas.microsoft.com/office/drawing/2014/main" id="{0EAFB722-7EF0-7097-C980-7DCD08AC6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806" y="3061494"/>
            <a:ext cx="5562600" cy="146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8844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97CD9-4715-2A6B-0846-FB4851506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EAB09A-315A-4EDB-6ECA-7D94F92A5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CA45C3-A5C9-E95B-FC1C-1D2A39EE2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3" y="121298"/>
            <a:ext cx="4963886" cy="802433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DATASET OVERVIEW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29E94EB-2542-56C8-9E50-286C82C8B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891" y="2179493"/>
            <a:ext cx="476794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BCI Competition IV Dataset 4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62 channels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5 finger positions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Subjects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S1, S2, S3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Time-series data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5F2B61-2611-8135-49BF-FD57CD926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253" y="3638042"/>
            <a:ext cx="6963747" cy="10288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CEC807-09E2-723D-0004-E752AF988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039" y="4691063"/>
            <a:ext cx="2116247" cy="17565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77718A-1FAE-88D0-6685-89E5E86F0915}"/>
              </a:ext>
            </a:extLst>
          </p:cNvPr>
          <p:cNvSpPr txBox="1"/>
          <p:nvPr/>
        </p:nvSpPr>
        <p:spPr>
          <a:xfrm>
            <a:off x="5093313" y="6397217"/>
            <a:ext cx="272927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R. Leeb et al. BCI </a:t>
            </a:r>
            <a:r>
              <a:rPr lang="en-US" b="1" i="1" dirty="0" err="1"/>
              <a:t>Competetion</a:t>
            </a:r>
            <a:r>
              <a:rPr lang="en-US" b="1" i="1" dirty="0"/>
              <a:t> 2008</a:t>
            </a:r>
          </a:p>
        </p:txBody>
      </p:sp>
    </p:spTree>
    <p:extLst>
      <p:ext uri="{BB962C8B-B14F-4D97-AF65-F5344CB8AC3E}">
        <p14:creationId xmlns:p14="http://schemas.microsoft.com/office/powerpoint/2010/main" val="1253271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C3B7B-5430-8F7C-375F-869713DE8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B3A6F9-27FD-DEC9-FFD2-3B68602DF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FBBFBA-9F47-A846-4B3A-0C5232046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3" y="121298"/>
            <a:ext cx="4963886" cy="802433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PROBLEM FORMULATION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38EA92A-A8F1-EEDE-155E-2D02F1F72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03" y="2411117"/>
            <a:ext cx="476794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Input</a:t>
            </a:r>
            <a:r>
              <a:rPr lang="en-US" sz="2400" dirty="0"/>
              <a:t>: neural signals (62 channels)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Output</a:t>
            </a:r>
            <a:r>
              <a:rPr lang="en-US" sz="2400" dirty="0"/>
              <a:t>: finger positions (5 values)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Type</a:t>
            </a:r>
            <a:r>
              <a:rPr lang="en-US" sz="2400" dirty="0"/>
              <a:t>: Regression problem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Metric</a:t>
            </a:r>
            <a:r>
              <a:rPr lang="en-US" sz="2400" dirty="0"/>
              <a:t>: R² score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E09B0E-5433-A0E0-AE82-B40933518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132" y="1750047"/>
            <a:ext cx="3702965" cy="23930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8F56407-7A95-F881-606B-7BF72EABDE3D}"/>
              </a:ext>
            </a:extLst>
          </p:cNvPr>
          <p:cNvSpPr txBox="1"/>
          <p:nvPr/>
        </p:nvSpPr>
        <p:spPr>
          <a:xfrm>
            <a:off x="5591977" y="4261258"/>
            <a:ext cx="272927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R. Leeb et al. BCI </a:t>
            </a:r>
            <a:r>
              <a:rPr lang="en-US" b="1" i="1" dirty="0" err="1"/>
              <a:t>Competetion</a:t>
            </a:r>
            <a:r>
              <a:rPr lang="en-US" b="1" i="1" dirty="0"/>
              <a:t> 2008</a:t>
            </a:r>
          </a:p>
        </p:txBody>
      </p:sp>
    </p:spTree>
    <p:extLst>
      <p:ext uri="{BB962C8B-B14F-4D97-AF65-F5344CB8AC3E}">
        <p14:creationId xmlns:p14="http://schemas.microsoft.com/office/powerpoint/2010/main" val="194438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3C476EA-0E49-6541-BE5E-4D9CDA48CDD2}"/>
              </a:ext>
            </a:extLst>
          </p:cNvPr>
          <p:cNvSpPr txBox="1">
            <a:spLocks noChangeArrowheads="1"/>
          </p:cNvSpPr>
          <p:nvPr/>
        </p:nvSpPr>
        <p:spPr>
          <a:xfrm>
            <a:off x="253783" y="45420"/>
            <a:ext cx="7381585" cy="12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bg1"/>
                </a:solidFill>
                <a:ea typeface="+mj-lt"/>
                <a:cs typeface="+mj-lt"/>
              </a:rPr>
              <a:t>METHODOLOGY</a:t>
            </a:r>
          </a:p>
          <a:p>
            <a:endParaRPr lang="en-US" altLang="en-US" sz="2800" b="1" dirty="0">
              <a:solidFill>
                <a:schemeClr val="bg1"/>
              </a:solidFill>
              <a:latin typeface="+mn-lt"/>
              <a:ea typeface="Calibri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F13B53-3C52-41FD-87EB-9108EC992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5BBD20E-A782-3172-4092-B15604100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043" y="1085333"/>
            <a:ext cx="4783946" cy="538194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28BD3D4-2E8C-E47C-692E-DADCB4549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449" y="1744996"/>
            <a:ext cx="697675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Models: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Wiener Filter (Linear)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Neural Network (Nonlinear)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Preprocessing: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StandardScaler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Experiment: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Channel Dropout (0% → 70%)</a:t>
            </a:r>
          </a:p>
        </p:txBody>
      </p:sp>
    </p:spTree>
    <p:extLst>
      <p:ext uri="{BB962C8B-B14F-4D97-AF65-F5344CB8AC3E}">
        <p14:creationId xmlns:p14="http://schemas.microsoft.com/office/powerpoint/2010/main" val="3757677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9DFE6B-394D-FD6D-D926-3136A84B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10CD30-4D25-554A-81B4-A71F3A31E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3" y="121298"/>
            <a:ext cx="4963886" cy="802433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KEY EXPERIMENT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DC08EB-AD7B-8AB8-653E-02B452719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704" y="1852258"/>
            <a:ext cx="730332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Channel dropout levels: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0%, 10%, 30%, 50%, 70%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 robustness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Wiener vs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3266272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A1847-67EC-547C-3C84-03B8357CF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EE8433-69A4-EE40-A821-A7288B86D461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7D9A5AB-6BAF-63FD-37BB-AC2890C22E52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C33A75-678E-8C87-CBD4-87975DCA5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7B6E2B-94BE-CC52-D391-8437AC487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654" y="1062202"/>
            <a:ext cx="3243222" cy="14893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85F68E-E2C9-9931-1BB9-E61B43427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655" y="2782588"/>
            <a:ext cx="3243222" cy="1536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18EB50-3659-9D74-02F4-38D37E0B4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0654" y="4644212"/>
            <a:ext cx="3280233" cy="15363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6E3814-D4F4-4B2B-F155-1F83CE4B59C1}"/>
              </a:ext>
            </a:extLst>
          </p:cNvPr>
          <p:cNvSpPr txBox="1"/>
          <p:nvPr/>
        </p:nvSpPr>
        <p:spPr>
          <a:xfrm>
            <a:off x="2309750" y="6235266"/>
            <a:ext cx="50113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Wiener Filter True Vs Predicted graph (for S1, S2 and S3)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169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198D4-EAA0-3C07-17BC-01A72927D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DE66BA-612E-ADEB-D9DE-C1619BE8D863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DDA2DD4-59BC-ED08-8CF6-5C74BD71DED9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F49E1C-1639-1CAB-060A-FAFC18478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A8B965-03C5-3D54-F167-B05CCAF93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229" y="1034812"/>
            <a:ext cx="3419920" cy="15682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CF09F1-9042-E65A-44E2-3082D23B1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229" y="2790507"/>
            <a:ext cx="3416108" cy="16175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A04470-58F5-DC21-B232-26E8F4C8F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521" y="4595511"/>
            <a:ext cx="3452816" cy="1617564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3ACD5A65-C256-2AF7-5757-6DAD94258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0871" y="6206310"/>
            <a:ext cx="438370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Neural Network True Vs Predicted graph (for S1, S2 and S3)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099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C3C05-2E30-741C-C945-F9AB1C376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86826A-A48F-76A3-4029-959255F2DC64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32842BE0-E4B9-E634-534B-93FC7135A65F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FEEDBA-AB27-8810-0B2F-B4EE8A37E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043471-110F-64C8-A2AC-6832A0339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38" y="1240087"/>
            <a:ext cx="3370311" cy="22820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8DC726-829F-4166-684D-ED9C6557F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720" y="1281476"/>
            <a:ext cx="3427486" cy="2282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7EC9B6-0AEC-0D67-26BC-C269C7A58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6570" y="3647322"/>
            <a:ext cx="4172300" cy="27774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F760D1-2B80-ADF3-7EB5-13E998E6FA53}"/>
              </a:ext>
            </a:extLst>
          </p:cNvPr>
          <p:cNvSpPr txBox="1"/>
          <p:nvPr/>
        </p:nvSpPr>
        <p:spPr>
          <a:xfrm>
            <a:off x="1934419" y="6385024"/>
            <a:ext cx="59257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Robustness under increasing channel dropout (for S1, S2 and S3)</a:t>
            </a:r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F986295-FC78-43A1-2646-BBB92456C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205878"/>
            <a:ext cx="319737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NN strong at low dropout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rops at high dropout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Wiener always low </a:t>
            </a:r>
          </a:p>
        </p:txBody>
      </p:sp>
    </p:spTree>
    <p:extLst>
      <p:ext uri="{BB962C8B-B14F-4D97-AF65-F5344CB8AC3E}">
        <p14:creationId xmlns:p14="http://schemas.microsoft.com/office/powerpoint/2010/main" val="2523118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9B28-3567-183F-13ED-D3078764B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B0E38D-70E2-1322-92D3-34F7EBAC29D0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85FBB59D-886C-28BC-E031-AAB65F386670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8BDD7D-801B-3F1B-7798-B0BF311E0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0145A82B-1E1F-B9B4-F5EE-6A71C02E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3428" y="6177386"/>
            <a:ext cx="4414222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Plot of Per Finger Decoding Performance (for S1, S2 and S3)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9A48B6-BC7F-DD60-C834-E7404872F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24" y="1292494"/>
            <a:ext cx="3505997" cy="21365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7DD689-1893-9F39-E1C0-EC4DAACAE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947" y="1292495"/>
            <a:ext cx="3505995" cy="21365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3436B3-A17B-62AD-8EC9-6044C7636D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243" y="3678265"/>
            <a:ext cx="3692001" cy="2249855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1706B988-AEA1-65F4-8E2F-3305647A4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2047" y="4138955"/>
            <a:ext cx="35825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NN better for all fingers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consistent advantage </a:t>
            </a:r>
          </a:p>
        </p:txBody>
      </p:sp>
    </p:spTree>
    <p:extLst>
      <p:ext uri="{BB962C8B-B14F-4D97-AF65-F5344CB8AC3E}">
        <p14:creationId xmlns:p14="http://schemas.microsoft.com/office/powerpoint/2010/main" val="2939427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D9098E-5BEC-EE4C-91E9-41A1CB5F73B3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66207839-FAB5-C647-B752-1E110BE99279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8437EB-2167-4AA1-BF66-4E9103D7B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47BCA7-939F-1464-8266-26CD96931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550625"/>
              </p:ext>
            </p:extLst>
          </p:nvPr>
        </p:nvGraphicFramePr>
        <p:xfrm>
          <a:off x="842879" y="1463324"/>
          <a:ext cx="7576725" cy="18795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8777">
                  <a:extLst>
                    <a:ext uri="{9D8B030D-6E8A-4147-A177-3AD203B41FA5}">
                      <a16:colId xmlns:a16="http://schemas.microsoft.com/office/drawing/2014/main" val="3321791400"/>
                    </a:ext>
                  </a:extLst>
                </a:gridCol>
                <a:gridCol w="1293137">
                  <a:extLst>
                    <a:ext uri="{9D8B030D-6E8A-4147-A177-3AD203B41FA5}">
                      <a16:colId xmlns:a16="http://schemas.microsoft.com/office/drawing/2014/main" val="1780478358"/>
                    </a:ext>
                  </a:extLst>
                </a:gridCol>
                <a:gridCol w="938567">
                  <a:extLst>
                    <a:ext uri="{9D8B030D-6E8A-4147-A177-3AD203B41FA5}">
                      <a16:colId xmlns:a16="http://schemas.microsoft.com/office/drawing/2014/main" val="822172111"/>
                    </a:ext>
                  </a:extLst>
                </a:gridCol>
                <a:gridCol w="1299555">
                  <a:extLst>
                    <a:ext uri="{9D8B030D-6E8A-4147-A177-3AD203B41FA5}">
                      <a16:colId xmlns:a16="http://schemas.microsoft.com/office/drawing/2014/main" val="4975010"/>
                    </a:ext>
                  </a:extLst>
                </a:gridCol>
                <a:gridCol w="938567">
                  <a:extLst>
                    <a:ext uri="{9D8B030D-6E8A-4147-A177-3AD203B41FA5}">
                      <a16:colId xmlns:a16="http://schemas.microsoft.com/office/drawing/2014/main" val="1699973544"/>
                    </a:ext>
                  </a:extLst>
                </a:gridCol>
                <a:gridCol w="1277093">
                  <a:extLst>
                    <a:ext uri="{9D8B030D-6E8A-4147-A177-3AD203B41FA5}">
                      <a16:colId xmlns:a16="http://schemas.microsoft.com/office/drawing/2014/main" val="635805571"/>
                    </a:ext>
                  </a:extLst>
                </a:gridCol>
                <a:gridCol w="961029">
                  <a:extLst>
                    <a:ext uri="{9D8B030D-6E8A-4147-A177-3AD203B41FA5}">
                      <a16:colId xmlns:a16="http://schemas.microsoft.com/office/drawing/2014/main" val="188472997"/>
                    </a:ext>
                  </a:extLst>
                </a:gridCol>
              </a:tblGrid>
              <a:tr h="5498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Dropout Level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S1 Wiener R²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S1 NN R²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S2 Wiener R²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S2 NN R²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S3 Wiener R²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S3 NN R²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8389605"/>
                  </a:ext>
                </a:extLst>
              </a:tr>
              <a:tr h="2659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0%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0.032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0.491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0.038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0.682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0.085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0.593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5133183"/>
                  </a:ext>
                </a:extLst>
              </a:tr>
              <a:tr h="2659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10%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0.027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0.285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0.037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0.513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0.079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0.452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5053477"/>
                  </a:ext>
                </a:extLst>
              </a:tr>
              <a:tr h="2659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30%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0.011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0.104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0.027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0.238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0.059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0.258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0304839"/>
                  </a:ext>
                </a:extLst>
              </a:tr>
              <a:tr h="2659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50%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0.007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0.006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0.013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0.029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0.045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0.091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7045669"/>
                  </a:ext>
                </a:extLst>
              </a:tr>
              <a:tr h="2659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70%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0.009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-0.052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-0.001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-0.276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0.023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-0.188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59614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72D65E4-D469-8543-12FE-48AD1E0733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505399"/>
              </p:ext>
            </p:extLst>
          </p:nvPr>
        </p:nvGraphicFramePr>
        <p:xfrm>
          <a:off x="842879" y="3925508"/>
          <a:ext cx="7576725" cy="18795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1695">
                  <a:extLst>
                    <a:ext uri="{9D8B030D-6E8A-4147-A177-3AD203B41FA5}">
                      <a16:colId xmlns:a16="http://schemas.microsoft.com/office/drawing/2014/main" val="400156730"/>
                    </a:ext>
                  </a:extLst>
                </a:gridCol>
                <a:gridCol w="1082505">
                  <a:extLst>
                    <a:ext uri="{9D8B030D-6E8A-4147-A177-3AD203B41FA5}">
                      <a16:colId xmlns:a16="http://schemas.microsoft.com/office/drawing/2014/main" val="1601269920"/>
                    </a:ext>
                  </a:extLst>
                </a:gridCol>
                <a:gridCol w="1082505">
                  <a:extLst>
                    <a:ext uri="{9D8B030D-6E8A-4147-A177-3AD203B41FA5}">
                      <a16:colId xmlns:a16="http://schemas.microsoft.com/office/drawing/2014/main" val="984017910"/>
                    </a:ext>
                  </a:extLst>
                </a:gridCol>
                <a:gridCol w="1082505">
                  <a:extLst>
                    <a:ext uri="{9D8B030D-6E8A-4147-A177-3AD203B41FA5}">
                      <a16:colId xmlns:a16="http://schemas.microsoft.com/office/drawing/2014/main" val="3645409596"/>
                    </a:ext>
                  </a:extLst>
                </a:gridCol>
                <a:gridCol w="1082505">
                  <a:extLst>
                    <a:ext uri="{9D8B030D-6E8A-4147-A177-3AD203B41FA5}">
                      <a16:colId xmlns:a16="http://schemas.microsoft.com/office/drawing/2014/main" val="2167005080"/>
                    </a:ext>
                  </a:extLst>
                </a:gridCol>
                <a:gridCol w="1082505">
                  <a:extLst>
                    <a:ext uri="{9D8B030D-6E8A-4147-A177-3AD203B41FA5}">
                      <a16:colId xmlns:a16="http://schemas.microsoft.com/office/drawing/2014/main" val="4150505597"/>
                    </a:ext>
                  </a:extLst>
                </a:gridCol>
                <a:gridCol w="1082505">
                  <a:extLst>
                    <a:ext uri="{9D8B030D-6E8A-4147-A177-3AD203B41FA5}">
                      <a16:colId xmlns:a16="http://schemas.microsoft.com/office/drawing/2014/main" val="2219620706"/>
                    </a:ext>
                  </a:extLst>
                </a:gridCol>
              </a:tblGrid>
              <a:tr h="268511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Finger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S1 (R</a:t>
                      </a:r>
                      <a:r>
                        <a:rPr lang="en-US" sz="1600" kern="100" baseline="30000">
                          <a:effectLst/>
                        </a:rPr>
                        <a:t>2</a:t>
                      </a:r>
                      <a:r>
                        <a:rPr lang="en-US" sz="1600" kern="100">
                          <a:effectLst/>
                        </a:rPr>
                        <a:t>)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S2 (R</a:t>
                      </a:r>
                      <a:r>
                        <a:rPr lang="en-US" sz="1600" kern="100" baseline="30000">
                          <a:effectLst/>
                        </a:rPr>
                        <a:t>2</a:t>
                      </a:r>
                      <a:r>
                        <a:rPr lang="en-US" sz="1600" kern="100">
                          <a:effectLst/>
                        </a:rPr>
                        <a:t>)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S3 (R</a:t>
                      </a:r>
                      <a:r>
                        <a:rPr lang="en-US" sz="1600" kern="100" baseline="30000">
                          <a:effectLst/>
                        </a:rPr>
                        <a:t>2</a:t>
                      </a:r>
                      <a:r>
                        <a:rPr lang="en-US" sz="1600" kern="100">
                          <a:effectLst/>
                        </a:rPr>
                        <a:t>)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479203"/>
                  </a:ext>
                </a:extLst>
              </a:tr>
              <a:tr h="26851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Wiener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NN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Wiener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NN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Wiener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NN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9164391"/>
                  </a:ext>
                </a:extLst>
              </a:tr>
              <a:tr h="2685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F1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0.027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0.429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0.041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0.682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0.080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0.674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637640"/>
                  </a:ext>
                </a:extLst>
              </a:tr>
              <a:tr h="2685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F2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0.028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0.483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0.045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0.656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0.128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0.591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6419046"/>
                  </a:ext>
                </a:extLst>
              </a:tr>
              <a:tr h="2685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F3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0.048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0.546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0.046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0.752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0.066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0.493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6366530"/>
                  </a:ext>
                </a:extLst>
              </a:tr>
              <a:tr h="2685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F4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0.033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0.491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0.040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0.645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0.095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0.580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5487866"/>
                  </a:ext>
                </a:extLst>
              </a:tr>
              <a:tr h="2685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F5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0.026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0.504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0.020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0.678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0.056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0.625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0228711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54DE3992-24EE-F1B3-8F5C-47C3FD16D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396" y="3326710"/>
            <a:ext cx="88233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NN &gt;&gt; Wiener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Consistent across S1, S2, S3 </a:t>
            </a:r>
          </a:p>
        </p:txBody>
      </p:sp>
    </p:spTree>
    <p:extLst>
      <p:ext uri="{BB962C8B-B14F-4D97-AF65-F5344CB8AC3E}">
        <p14:creationId xmlns:p14="http://schemas.microsoft.com/office/powerpoint/2010/main" val="2985942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6C91-74F7-E39C-B533-0360E3A26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BAEB18-E19F-74D9-6828-9154B22C05B0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6240152-A4B7-9DC3-5FCD-E191163C0F54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KEY INSIGHTS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614330-BA71-4C39-FA1E-C95B880CD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0F27A41-4BDA-2CAE-DF49-E1502D33C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148" y="1323017"/>
            <a:ext cx="600297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NN performs best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↓ with dropout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igh dimensionality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onlinear mapping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issing channels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Robustness strategies: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onlinear models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ropout training</a:t>
            </a:r>
          </a:p>
        </p:txBody>
      </p:sp>
    </p:spTree>
    <p:extLst>
      <p:ext uri="{BB962C8B-B14F-4D97-AF65-F5344CB8AC3E}">
        <p14:creationId xmlns:p14="http://schemas.microsoft.com/office/powerpoint/2010/main" val="763351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0902F3-6AC2-F5CE-FD22-F326BE07D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531049-8AF4-7024-88A4-BA03BD817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445" y="137142"/>
            <a:ext cx="7249960" cy="709700"/>
          </a:xfrm>
        </p:spPr>
        <p:txBody>
          <a:bodyPr>
            <a:normAutofit/>
          </a:bodyPr>
          <a:lstStyle/>
          <a:p>
            <a:r>
              <a:rPr lang="en-US" sz="2700" b="1" dirty="0">
                <a:solidFill>
                  <a:schemeClr val="bg1"/>
                </a:solidFill>
                <a:latin typeface="Calibri"/>
                <a:ea typeface="+mj-lt"/>
                <a:cs typeface="+mj-lt"/>
              </a:rPr>
              <a:t>CONCLUSION &amp; FUTURE WORK</a:t>
            </a:r>
            <a:endParaRPr lang="en-US" b="1" dirty="0">
              <a:solidFill>
                <a:schemeClr val="bg1"/>
              </a:solidFill>
              <a:latin typeface="Calibri"/>
              <a:ea typeface="Calibri Light"/>
              <a:cs typeface="Calibri Light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C64C13C-A0CE-841A-5F0A-8716657FA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454" y="1435233"/>
            <a:ext cx="546858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NN &gt; Wiener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 under moderate dropout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igh dropout failure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Work: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RNN implementation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ata augmentation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robustness methods</a:t>
            </a:r>
          </a:p>
        </p:txBody>
      </p:sp>
    </p:spTree>
    <p:extLst>
      <p:ext uri="{BB962C8B-B14F-4D97-AF65-F5344CB8AC3E}">
        <p14:creationId xmlns:p14="http://schemas.microsoft.com/office/powerpoint/2010/main" val="3539020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ack And Forth Questions | 3D Animated Clipart for PowerPoint -  PresenterMedia.com">
            <a:extLst>
              <a:ext uri="{FF2B5EF4-FFF2-40B4-BE49-F238E27FC236}">
                <a16:creationId xmlns:a16="http://schemas.microsoft.com/office/drawing/2014/main" id="{FE8BDA98-C6E8-CBB2-5468-3D4D1666E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85" y="1351025"/>
            <a:ext cx="4473821" cy="447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A93304-03D7-493E-92D6-38FC853D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CFDDDB-0F2B-4CC6-8C8A-5C6670B6DE9E}"/>
              </a:ext>
            </a:extLst>
          </p:cNvPr>
          <p:cNvSpPr txBox="1">
            <a:spLocks/>
          </p:cNvSpPr>
          <p:nvPr/>
        </p:nvSpPr>
        <p:spPr>
          <a:xfrm>
            <a:off x="5688672" y="2552995"/>
            <a:ext cx="2911715" cy="16038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Questions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D1B8B9-09A2-A7A5-34C2-6E0CF603DEBD}"/>
              </a:ext>
            </a:extLst>
          </p:cNvPr>
          <p:cNvSpPr txBox="1"/>
          <p:nvPr/>
        </p:nvSpPr>
        <p:spPr>
          <a:xfrm>
            <a:off x="4189445" y="699874"/>
            <a:ext cx="5383763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60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sz="6000" dirty="0">
                <a:solidFill>
                  <a:schemeClr val="bg2">
                    <a:lumMod val="10000"/>
                  </a:schemeClr>
                </a:solidFill>
              </a:rPr>
              <a:t>   THANK YOU!!</a:t>
            </a:r>
            <a:endParaRPr lang="en-US" sz="6000" dirty="0">
              <a:solidFill>
                <a:schemeClr val="bg2">
                  <a:lumMod val="10000"/>
                </a:schemeClr>
              </a:solidFill>
              <a:ea typeface="Calibri"/>
              <a:cs typeface="Calibri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49599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1092</TotalTime>
  <Words>482</Words>
  <Application>Microsoft Office PowerPoint</Application>
  <PresentationFormat>On-screen Show (4:3)</PresentationFormat>
  <Paragraphs>205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Times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DATASET OVERVIEW</vt:lpstr>
      <vt:lpstr>PROBLEM FORMULATION</vt:lpstr>
      <vt:lpstr>PowerPoint Presentation</vt:lpstr>
      <vt:lpstr>KEY EXPERIMENT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&amp; 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Microsoft Office User</dc:creator>
  <cp:lastModifiedBy>kartavya mandora</cp:lastModifiedBy>
  <cp:revision>93</cp:revision>
  <dcterms:created xsi:type="dcterms:W3CDTF">2020-12-17T21:21:33Z</dcterms:created>
  <dcterms:modified xsi:type="dcterms:W3CDTF">2026-05-06T01:00:41Z</dcterms:modified>
</cp:coreProperties>
</file>